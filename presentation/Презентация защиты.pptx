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17"/>
  </p:notesMasterIdLst>
  <p:sldIdLst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17" r:id="rId12"/>
    <p:sldId id="308" r:id="rId13"/>
    <p:sldId id="313" r:id="rId14"/>
    <p:sldId id="314" r:id="rId15"/>
    <p:sldId id="315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F8DF34-FB22-4428-966A-3E51CCA9C572}">
  <a:tblStyle styleId="{DCF8DF34-FB22-4428-966A-3E51CCA9C5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798" y="114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0:00–0:15. Приветствие. Тема — Fast Payment Idem Cache, кэш идемпотентности платежей.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0:15–0:35. О себе: C#/.NET-разработчик, на курсе хотел собрать темы воедно в одном высоконагруженном сервисе.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0:35–0:45. План: проблема и цель → архитектура и технологии → наблюдаемость (живая демонстрация дашборда в видео) → оптимизация → результаты и выводы.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0:45–1:15. Цепочка проблемы: сетевой таймаут не значит отказ → клиент ретраит с тем же idempotency key (стандарт Stripe/Adyen) → без проверки ключа повтор исполняется как новый платёж — двойное списание. Вывод: проверка ключа лежит на горячем пути каждого платежа.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1:15–1:35. Цель — синтез тем курса: кэш идемпотентности платежей с минимумом аллокаций и GC-пауз. Шесть задач: от TCP-протокола до observability и оптимизации по данным.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1:35–1:55. Технологии и почему: span — без строк на горячем пути; генератор — сериализация без рефлексии; OTel — измеримость. Инструменты анализа: NBomber — нагрузка, BenchmarkDotNet — микро-бенчмарки, dotnet-counters/gcdump/trace — диагностика аллокаций и GC.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1:55–2:35. Путь команды: приём соединения → разбор → хранилище; значения бинарные (сериализация), телеметрия уходит OTLP в коллектор → метрики и трейсы → Grafana. Детали для рассказа: accept-loop под SemaphoreSlim(10), буферы ArrayPool 4 КБ, парсер на ReadOnlySpan, Dictionary + ReaderWriterLockSlim, сериализация Roslyn source-генератором.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4:50+. Ответы на вопросы.</a:t>
            </a:r>
          </a:p>
        </p:txBody>
      </p:sp>
    </p:spTree>
    <p:extLst>
      <p:ext uri="{BB962C8B-B14F-4D97-AF65-F5344CB8AC3E}">
        <p14:creationId xmlns:p14="http://schemas.microsoft.com/office/powerpoint/2010/main" val="478785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3:05–4:20 (вместо пяти слайдов). Диагноз по dotnet-trace: ~1.4 КБ/оп — телеметрия 44% (Activity с тегами на каждую команду, AlwaysOn), сериализация через MemoryStream в write-lock 24%, парсинг-строки + Console.WriteLine 21%, resize словаря 5%. Правки: GetTimestamp вместо Stopwatch + сэмплер 1% (экспорт в Tempo −99%), байтовый SequenceEqual + строковые константы, десериализация вне read-lock. Оговорка: сэмплер аллокаций не снижал — налог решения OTel ~560 Б/оп принят осознанно (трейсы 1% живы для Tempo). Эффект same-day A/B: SET −16.5 / GET −17.8% Б/оп; GET p99 ×2.5; очередь @60k ×5.1 короче; в коллапсе @80k пропускная ×2, отказы 39–50→7–14%. Baseline «до»: p99 2.01/1.23 мс, 1212/1099 Б/оп; потолок @60k ≈52k SET / 60k GET (плавает день-к-дню — сравнение только same-day).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4:20–4:50. Выводы: цель достигнута — синтез курса в рабочем продукте; главный урок — «измеряй, потом правь» с проверкой same-day A/B; неожиданный факт — 44% аллокаций давала сама телеметрия (эффект наблюдателя); развитие — TTL/эвикция, Server GC, пайплайнинг.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4:50+. Ответы на вопросы.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{DCF8DF34-FB22-4428-966A-3E51CCA9C572}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{DCF8DF34-FB22-4428-966A-3E51CCA9C572}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1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_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 1">
  <p:cSld name="CUSTOM_2_1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 1">
  <p:cSld name="CUSTOM_4_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Fast Payment Idem</a:t>
            </a:r>
            <a:r>
              <a:rPr lang="en-US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potency</a:t>
            </a:r>
            <a:r>
              <a:rPr lang="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Cache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507492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86384" y="4127375"/>
            <a:ext cx="475488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C# Разработчик. Экспертный уровень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Fast Payment Idem Cache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t="30931" b="13765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Артур Зотиков</a:t>
            </a:r>
            <a:endParaRPr sz="2300" b="1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4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C#/.NET-разработчик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082718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Проблема и цель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Архитектура и технологии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082719" y="265168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Наблюдаемость — живое демо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082716" y="3707348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Оптимизация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 rot="10800000" flipH="1" flipV="1">
            <a:off x="1082717" y="1679402"/>
            <a:ext cx="55407" cy="580190"/>
          </a:xfrm>
          <a:prstGeom prst="bentConnector3">
            <a:avLst>
              <a:gd name="adj1" fmla="val -412583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 rot="10800000" flipV="1">
            <a:off x="1082719" y="2259592"/>
            <a:ext cx="55406" cy="580190"/>
          </a:xfrm>
          <a:prstGeom prst="bentConnector3">
            <a:avLst>
              <a:gd name="adj1" fmla="val 512591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 rot="10800000" flipV="1">
            <a:off x="1082717" y="2839782"/>
            <a:ext cx="3" cy="1055666"/>
          </a:xfrm>
          <a:prstGeom prst="bentConnector3">
            <a:avLst>
              <a:gd name="adj1" fmla="val 76201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cxnSpLocks/>
            <a:stCxn id="175" idx="1"/>
            <a:endCxn id="180" idx="1"/>
          </p:cNvCxnSpPr>
          <p:nvPr/>
        </p:nvCxnSpPr>
        <p:spPr>
          <a:xfrm rot="10800000" flipH="1" flipV="1">
            <a:off x="1082715" y="3895447"/>
            <a:ext cx="3" cy="564291"/>
          </a:xfrm>
          <a:prstGeom prst="bentConnector3">
            <a:avLst>
              <a:gd name="adj1" fmla="val -76200000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082719" y="4271639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Результаты и выводы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175;p38">
            <a:extLst>
              <a:ext uri="{FF2B5EF4-FFF2-40B4-BE49-F238E27FC236}">
                <a16:creationId xmlns:a16="http://schemas.microsoft.com/office/drawing/2014/main" id="{89071E69-9640-49C7-B793-01540455BB17}"/>
              </a:ext>
            </a:extLst>
          </p:cNvPr>
          <p:cNvSpPr/>
          <p:nvPr/>
        </p:nvSpPr>
        <p:spPr>
          <a:xfrm>
            <a:off x="1082716" y="316798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Демонстрация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" name="Google Shape;176;p38">
            <a:extLst>
              <a:ext uri="{FF2B5EF4-FFF2-40B4-BE49-F238E27FC236}">
                <a16:creationId xmlns:a16="http://schemas.microsoft.com/office/drawing/2014/main" id="{BE9D8B21-E969-4FE0-90D4-B0C592D9A002}"/>
              </a:ext>
            </a:extLst>
          </p:cNvPr>
          <p:cNvCxnSpPr>
            <a:cxnSpLocks/>
            <a:stCxn id="23" idx="1"/>
            <a:endCxn id="175" idx="1"/>
          </p:cNvCxnSpPr>
          <p:nvPr/>
        </p:nvCxnSpPr>
        <p:spPr>
          <a:xfrm rot="10800000" flipV="1">
            <a:off x="1082716" y="3356082"/>
            <a:ext cx="12700" cy="539366"/>
          </a:xfrm>
          <a:prstGeom prst="bentConnector3">
            <a:avLst>
              <a:gd name="adj1" fmla="val 187078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>
            <a:spLocks noGrp="1"/>
          </p:cNvSpPr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Проблема: двойное списание платежа</a:t>
            </a:r>
            <a:endParaRPr/>
          </a:p>
        </p:txBody>
      </p:sp>
      <p:sp>
        <p:nvSpPr>
          <p:cNvPr id="431" name="Rounded Rectangle 430"/>
          <p:cNvSpPr/>
          <p:nvPr/>
        </p:nvSpPr>
        <p:spPr>
          <a:xfrm>
            <a:off x="502920" y="1920240"/>
            <a:ext cx="2377440" cy="2240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41248" rIns="109728" rtlCol="0" anchor="t"/>
          <a:lstStyle/>
          <a:p>
            <a:pPr algn="ctr"/>
            <a:r>
              <a:rPr sz="1600" b="1">
                <a:solidFill>
                  <a:srgbClr val="212121"/>
                </a:solidFill>
                <a:latin typeface="Roboto"/>
              </a:rPr>
              <a:t>Таймаут ≠ отказ</a:t>
            </a:r>
          </a:p>
          <a:p>
            <a:pPr algn="ctr">
              <a:spcBef>
                <a:spcPts val="600"/>
              </a:spcBef>
            </a:pPr>
            <a:r>
              <a:rPr sz="1250" b="0">
                <a:solidFill>
                  <a:srgbClr val="595959"/>
                </a:solidFill>
                <a:latin typeface="Roboto"/>
              </a:rPr>
              <a:t>Ответ платежа потерялся в сети — списание у провайдера могло пройти</a:t>
            </a:r>
          </a:p>
        </p:txBody>
      </p:sp>
      <p:sp>
        <p:nvSpPr>
          <p:cNvPr id="432" name="Oval 431"/>
          <p:cNvSpPr/>
          <p:nvPr/>
        </p:nvSpPr>
        <p:spPr>
          <a:xfrm>
            <a:off x="384048" y="1792224"/>
            <a:ext cx="402336" cy="402336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433" name="Rounded Rectangle 432"/>
          <p:cNvSpPr/>
          <p:nvPr/>
        </p:nvSpPr>
        <p:spPr>
          <a:xfrm>
            <a:off x="3383280" y="1920240"/>
            <a:ext cx="2377440" cy="2240280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41248" rIns="109728" rtlCol="0" anchor="t"/>
          <a:lstStyle/>
          <a:p>
            <a:pPr algn="ctr"/>
            <a:r>
              <a:rPr sz="1600" b="1">
                <a:solidFill>
                  <a:srgbClr val="212121"/>
                </a:solidFill>
                <a:latin typeface="Roboto"/>
              </a:rPr>
              <a:t>Клиент ретраит</a:t>
            </a:r>
          </a:p>
          <a:p>
            <a:pPr algn="ctr">
              <a:spcBef>
                <a:spcPts val="600"/>
              </a:spcBef>
            </a:pPr>
            <a:r>
              <a:rPr sz="1250" b="0">
                <a:solidFill>
                  <a:srgbClr val="595959"/>
                </a:solidFill>
                <a:latin typeface="Roboto"/>
              </a:rPr>
              <a:t>Повторный запрос с тем же idempotency key (Stripe, Adyen)</a:t>
            </a:r>
          </a:p>
        </p:txBody>
      </p:sp>
      <p:sp>
        <p:nvSpPr>
          <p:cNvPr id="434" name="Oval 433"/>
          <p:cNvSpPr/>
          <p:nvPr/>
        </p:nvSpPr>
        <p:spPr>
          <a:xfrm>
            <a:off x="3264408" y="1792224"/>
            <a:ext cx="402336" cy="402336"/>
          </a:xfrm>
          <a:prstGeom prst="ellipse">
            <a:avLst/>
          </a:prstGeom>
          <a:solidFill>
            <a:srgbClr val="4285F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435" name="Rounded Rectangle 434"/>
          <p:cNvSpPr/>
          <p:nvPr/>
        </p:nvSpPr>
        <p:spPr>
          <a:xfrm>
            <a:off x="6263640" y="1920240"/>
            <a:ext cx="2377440" cy="224028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FFAB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841248" rIns="109728" rtlCol="0" anchor="t"/>
          <a:lstStyle/>
          <a:p>
            <a:pPr algn="ctr"/>
            <a:r>
              <a:rPr sz="1600" b="1">
                <a:solidFill>
                  <a:srgbClr val="212121"/>
                </a:solidFill>
                <a:latin typeface="Roboto"/>
              </a:rPr>
              <a:t>Двойное списание</a:t>
            </a:r>
          </a:p>
          <a:p>
            <a:pPr algn="ctr">
              <a:spcBef>
                <a:spcPts val="600"/>
              </a:spcBef>
            </a:pPr>
            <a:r>
              <a:rPr sz="1250" b="0">
                <a:solidFill>
                  <a:srgbClr val="595959"/>
                </a:solidFill>
                <a:latin typeface="Roboto"/>
              </a:rPr>
              <a:t>Без проверки ключа повтор исполняется как новая операция</a:t>
            </a:r>
          </a:p>
        </p:txBody>
      </p:sp>
      <p:sp>
        <p:nvSpPr>
          <p:cNvPr id="436" name="Oval 435"/>
          <p:cNvSpPr/>
          <p:nvPr/>
        </p:nvSpPr>
        <p:spPr>
          <a:xfrm>
            <a:off x="6144768" y="1792224"/>
            <a:ext cx="402336" cy="402336"/>
          </a:xfrm>
          <a:prstGeom prst="ellipse">
            <a:avLst/>
          </a:prstGeom>
          <a:solidFill>
            <a:srgbClr val="FFAB4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sz="15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437" name="Right Arrow 436"/>
          <p:cNvSpPr/>
          <p:nvPr/>
        </p:nvSpPr>
        <p:spPr>
          <a:xfrm>
            <a:off x="2962656" y="2852928"/>
            <a:ext cx="365760" cy="32918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438" name="Right Arrow 437"/>
          <p:cNvSpPr/>
          <p:nvPr/>
        </p:nvSpPr>
        <p:spPr>
          <a:xfrm>
            <a:off x="5843016" y="2852928"/>
            <a:ext cx="365760" cy="32918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439" name="Rounded Rectangle 438"/>
          <p:cNvSpPr/>
          <p:nvPr/>
        </p:nvSpPr>
        <p:spPr>
          <a:xfrm>
            <a:off x="502920" y="4526280"/>
            <a:ext cx="8138160" cy="4572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967D2"/>
                </a:solidFill>
                <a:latin typeface="Roboto"/>
              </a:rPr>
              <a:t>Idempotency key</a:t>
            </a:r>
            <a:r>
              <a:rPr sz="1300" b="0">
                <a:solidFill>
                  <a:srgbClr val="212121"/>
                </a:solidFill>
                <a:latin typeface="Roboto"/>
              </a:rPr>
              <a:t> — проверка на горячем пути каждого платежа</a:t>
            </a: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8040" y="2066543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680" y="2066543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7320" y="2066543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7239000" cy="2462988"/>
        </p:xfrm>
        <a:graphic>
          <a:graphicData uri="http://schemas.openxmlformats.org/drawingml/2006/table">
            <a:tbl>
              <a:tblPr>
                <a:noFill/>
                <a:tableStyleId>{DCF8DF34-FB22-4428-966A-3E51CCA9C572}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Протокол SET/GET/DELETE поверх async TCP, буферы ArrayPool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Zero-alloc парсер команд на ReadOnlySpan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>Хранилище ReaderWriterLockSlim + Interlocked-статистика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 err="1"/>
                        <a:t>Бинарная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сериализация</a:t>
                      </a:r>
                      <a:r>
                        <a:rPr dirty="0"/>
                        <a:t> source-</a:t>
                      </a:r>
                      <a:r>
                        <a:rPr dirty="0" err="1"/>
                        <a:t>генератором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5.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Нагрузочные замеры NBomber и оптимизация по данным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6.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dirty="0"/>
                        <a:t>Observability: </a:t>
                      </a:r>
                      <a:r>
                        <a:rPr dirty="0" err="1"/>
                        <a:t>OpenTelemetry</a:t>
                      </a:r>
                      <a:r>
                        <a:rPr dirty="0"/>
                        <a:t> → Prometheus / Tempo / Grafana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994353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— кэш идемпотентности платежей с минимумом аллокаций и GC-пауз</a:t>
            </a:r>
            <a:endParaRPr sz="1500" dirty="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/>
        </p:nvGraphicFramePr>
        <p:xfrm>
          <a:off x="952500" y="1897775"/>
          <a:ext cx="7239000" cy="2708352"/>
        </p:xfrm>
        <a:graphic>
          <a:graphicData uri="http://schemas.openxmlformats.org/drawingml/2006/table">
            <a:tbl>
              <a:tblPr>
                <a:noFill/>
                <a:tableStyleId>{DCF8DF34-FB22-4428-966A-3E51CCA9C572}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.NET 9 · Span/ReadOnlySpan/Memory, ref struct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Async sockets (System.Net.Sockets) + ArrayPool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ReaderWriterLockSlim + Interlocked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Source Generators (Roslyn) — бинарная сериализация</a:t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5.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OpenTelemetry → Prometheus / Tempo / Grafana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6.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Анализ производительности: NBomber · BenchmarkDotNet · dotnet-counters / gcdump / trace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530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>
            <a:spLocks noGrp="1"/>
          </p:cNvSpPr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System Design: путь команды</a:t>
            </a:r>
            <a:endParaRPr dirty="0"/>
          </a:p>
        </p:txBody>
      </p:sp>
      <p:pic>
        <p:nvPicPr>
          <p:cNvPr id="389" name="Picture 388" descr="slide8-vari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53" y="1417320"/>
            <a:ext cx="7209092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ДЕМО ПРИЛОЖЕНИЯ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4300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4671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>
            <a:spLocks noGrp="1"/>
          </p:cNvSpPr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Оптимизация</a:t>
            </a:r>
            <a:endParaRPr dirty="0"/>
          </a:p>
        </p:txBody>
      </p:sp>
      <p:sp>
        <p:nvSpPr>
          <p:cNvPr id="609" name="TextBox 608"/>
          <p:cNvSpPr txBox="1"/>
          <p:nvPr/>
        </p:nvSpPr>
        <p:spPr>
          <a:xfrm>
            <a:off x="457200" y="129844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Roboto"/>
              </a:rPr>
              <a:t>Диагноз: ~1.4 КБ на команду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457200" y="1737360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Roboto"/>
              </a:rPr>
              <a:t>Телеметрия</a:t>
            </a:r>
          </a:p>
        </p:txBody>
      </p:sp>
      <p:sp>
        <p:nvSpPr>
          <p:cNvPr id="611" name="Rectangle 610"/>
          <p:cNvSpPr/>
          <p:nvPr/>
        </p:nvSpPr>
        <p:spPr>
          <a:xfrm>
            <a:off x="2176272" y="1760219"/>
            <a:ext cx="1828800" cy="201168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12" name="TextBox 611"/>
          <p:cNvSpPr txBox="1"/>
          <p:nvPr/>
        </p:nvSpPr>
        <p:spPr>
          <a:xfrm>
            <a:off x="4069080" y="1737360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Roboto"/>
              </a:rPr>
              <a:t>44%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457200" y="2048255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Roboto"/>
              </a:rPr>
              <a:t>Сериализация</a:t>
            </a:r>
          </a:p>
        </p:txBody>
      </p:sp>
      <p:sp>
        <p:nvSpPr>
          <p:cNvPr id="614" name="Rectangle 613"/>
          <p:cNvSpPr/>
          <p:nvPr/>
        </p:nvSpPr>
        <p:spPr>
          <a:xfrm>
            <a:off x="2176272" y="2071115"/>
            <a:ext cx="997527" cy="20116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15" name="TextBox 614"/>
          <p:cNvSpPr txBox="1"/>
          <p:nvPr/>
        </p:nvSpPr>
        <p:spPr>
          <a:xfrm>
            <a:off x="3237807" y="2048255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Roboto"/>
              </a:rPr>
              <a:t>24%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457200" y="235915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212121"/>
                </a:solidFill>
                <a:latin typeface="Roboto"/>
              </a:rPr>
              <a:t>Парсинг + лог</a:t>
            </a:r>
          </a:p>
        </p:txBody>
      </p:sp>
      <p:sp>
        <p:nvSpPr>
          <p:cNvPr id="617" name="Rectangle 616"/>
          <p:cNvSpPr/>
          <p:nvPr/>
        </p:nvSpPr>
        <p:spPr>
          <a:xfrm>
            <a:off x="2176272" y="2382012"/>
            <a:ext cx="872836" cy="201168"/>
          </a:xfrm>
          <a:prstGeom prst="rect">
            <a:avLst/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18" name="TextBox 617"/>
          <p:cNvSpPr txBox="1"/>
          <p:nvPr/>
        </p:nvSpPr>
        <p:spPr>
          <a:xfrm>
            <a:off x="3113116" y="2359152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Roboto"/>
              </a:rPr>
              <a:t>21%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457200" y="2670048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 dirty="0">
                <a:solidFill>
                  <a:srgbClr val="212121"/>
                </a:solidFill>
                <a:latin typeface="Roboto"/>
              </a:rPr>
              <a:t>Resize </a:t>
            </a:r>
            <a:r>
              <a:rPr sz="1200" b="0" dirty="0" err="1">
                <a:solidFill>
                  <a:srgbClr val="212121"/>
                </a:solidFill>
                <a:latin typeface="Roboto"/>
              </a:rPr>
              <a:t>словаря</a:t>
            </a:r>
            <a:endParaRPr sz="1200" b="0" dirty="0">
              <a:solidFill>
                <a:srgbClr val="212121"/>
              </a:solidFill>
              <a:latin typeface="Roboto"/>
            </a:endParaRPr>
          </a:p>
        </p:txBody>
      </p:sp>
      <p:sp>
        <p:nvSpPr>
          <p:cNvPr id="620" name="Rectangle 619"/>
          <p:cNvSpPr/>
          <p:nvPr/>
        </p:nvSpPr>
        <p:spPr>
          <a:xfrm>
            <a:off x="2176272" y="2692908"/>
            <a:ext cx="207818" cy="201168"/>
          </a:xfrm>
          <a:prstGeom prst="rect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21" name="TextBox 620"/>
          <p:cNvSpPr txBox="1"/>
          <p:nvPr/>
        </p:nvSpPr>
        <p:spPr>
          <a:xfrm>
            <a:off x="2448098" y="2670048"/>
            <a:ext cx="685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12121"/>
                </a:solidFill>
                <a:latin typeface="Roboto"/>
              </a:rPr>
              <a:t>5%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7200" y="3072384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Roboto"/>
              </a:rPr>
              <a:t>Правки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457200" y="3456432"/>
            <a:ext cx="3977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 err="1">
                <a:solidFill>
                  <a:srgbClr val="1967D2"/>
                </a:solidFill>
                <a:latin typeface="Roboto"/>
              </a:rPr>
              <a:t>Телеметрия</a:t>
            </a:r>
            <a:r>
              <a:rPr sz="1200" b="1" dirty="0">
                <a:solidFill>
                  <a:srgbClr val="1967D2"/>
                </a:solidFill>
                <a:latin typeface="Roboto"/>
              </a:rPr>
              <a:t> — </a:t>
            </a:r>
            <a:r>
              <a:rPr sz="1200" b="0" dirty="0" err="1">
                <a:solidFill>
                  <a:srgbClr val="212121"/>
                </a:solidFill>
                <a:latin typeface="Roboto"/>
              </a:rPr>
              <a:t>GetTimestamp</a:t>
            </a:r>
            <a:r>
              <a:rPr sz="1200" b="0" dirty="0">
                <a:solidFill>
                  <a:srgbClr val="212121"/>
                </a:solidFill>
                <a:latin typeface="Roboto"/>
              </a:rPr>
              <a:t> + </a:t>
            </a:r>
            <a:r>
              <a:rPr sz="1200" b="0" dirty="0" err="1">
                <a:solidFill>
                  <a:srgbClr val="212121"/>
                </a:solidFill>
                <a:latin typeface="Roboto"/>
              </a:rPr>
              <a:t>сэмплер</a:t>
            </a:r>
            <a:r>
              <a:rPr sz="1200" b="0" dirty="0">
                <a:solidFill>
                  <a:srgbClr val="212121"/>
                </a:solidFill>
                <a:latin typeface="Roboto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Roboto"/>
              </a:rPr>
              <a:t>трейсов</a:t>
            </a:r>
            <a:r>
              <a:rPr sz="1200" b="0" dirty="0">
                <a:solidFill>
                  <a:srgbClr val="212121"/>
                </a:solidFill>
                <a:latin typeface="Roboto"/>
              </a:rPr>
              <a:t> 1%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457200" y="3803904"/>
            <a:ext cx="3977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67D2"/>
                </a:solidFill>
                <a:latin typeface="Roboto"/>
              </a:rPr>
              <a:t>Парсер — </a:t>
            </a:r>
            <a:r>
              <a:rPr sz="1200" b="0">
                <a:solidFill>
                  <a:srgbClr val="212121"/>
                </a:solidFill>
                <a:latin typeface="Roboto"/>
              </a:rPr>
              <a:t>UTF8-SequenceEqual, константы без бокса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57200" y="4151376"/>
            <a:ext cx="39776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967D2"/>
                </a:solidFill>
                <a:latin typeface="Roboto"/>
              </a:rPr>
              <a:t>GET — </a:t>
            </a:r>
            <a:r>
              <a:rPr sz="1200" b="0">
                <a:solidFill>
                  <a:srgbClr val="212121"/>
                </a:solidFill>
                <a:latin typeface="Roboto"/>
              </a:rPr>
              <a:t>десериализация вне read-lock</a:t>
            </a:r>
          </a:p>
        </p:txBody>
      </p:sp>
      <p:graphicFrame>
        <p:nvGraphicFramePr>
          <p:cNvPr id="626" name="Table 625"/>
          <p:cNvGraphicFramePr>
            <a:graphicFrameLocks noGrp="1"/>
          </p:cNvGraphicFramePr>
          <p:nvPr/>
        </p:nvGraphicFramePr>
        <p:xfrm>
          <a:off x="4526280" y="1298448"/>
          <a:ext cx="416052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Roboto"/>
                        </a:rPr>
                        <a:t>Метрика</a:t>
                      </a:r>
                    </a:p>
                  </a:txBody>
                  <a:tcPr marL="73152" marR="45720" marT="27432" marB="27432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Roboto"/>
                        </a:rPr>
                        <a:t>До</a:t>
                      </a:r>
                    </a:p>
                  </a:txBody>
                  <a:tcPr marL="73152" marR="45720" marT="27432" marB="27432" anchor="ctr"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Roboto"/>
                        </a:rPr>
                        <a:t>После</a:t>
                      </a:r>
                    </a:p>
                  </a:txBody>
                  <a:tcPr marL="73152" marR="45720" marT="27432" marB="27432" anchor="ctr"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  <a:latin typeface="Roboto"/>
                        </a:rPr>
                        <a:t>Б/оп · SET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Roboto"/>
                        </a:rPr>
                        <a:t>1292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967D2"/>
                          </a:solidFill>
                          <a:latin typeface="Roboto"/>
                        </a:rPr>
                        <a:t>1079  −16.5%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  <a:latin typeface="Roboto"/>
                        </a:rPr>
                        <a:t>Б/оп · GET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Roboto"/>
                        </a:rPr>
                        <a:t>1092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967D2"/>
                          </a:solidFill>
                          <a:latin typeface="Roboto"/>
                        </a:rPr>
                        <a:t>898  −17.8%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 dirty="0">
                          <a:solidFill>
                            <a:srgbClr val="212121"/>
                          </a:solidFill>
                          <a:latin typeface="Roboto"/>
                        </a:rPr>
                        <a:t>GET p99, </a:t>
                      </a:r>
                      <a:r>
                        <a:rPr sz="1150" b="0" dirty="0" err="1">
                          <a:solidFill>
                            <a:srgbClr val="212121"/>
                          </a:solidFill>
                          <a:latin typeface="Roboto"/>
                        </a:rPr>
                        <a:t>мс</a:t>
                      </a:r>
                      <a:endParaRPr sz="1150" b="0" dirty="0">
                        <a:solidFill>
                          <a:srgbClr val="212121"/>
                        </a:solidFill>
                        <a:latin typeface="Roboto"/>
                      </a:endParaRP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Roboto"/>
                        </a:rPr>
                        <a:t>0.85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967D2"/>
                          </a:solidFill>
                          <a:latin typeface="Roboto"/>
                        </a:rPr>
                        <a:t>0.34  ×2.5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 dirty="0" err="1">
                          <a:solidFill>
                            <a:srgbClr val="212121"/>
                          </a:solidFill>
                          <a:latin typeface="Roboto"/>
                        </a:rPr>
                        <a:t>Очередь</a:t>
                      </a:r>
                      <a:r>
                        <a:rPr sz="1150" b="0" dirty="0">
                          <a:solidFill>
                            <a:srgbClr val="212121"/>
                          </a:solidFill>
                          <a:latin typeface="Roboto"/>
                        </a:rPr>
                        <a:t> @60k, с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Roboto"/>
                        </a:rPr>
                        <a:t>4.5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1967D2"/>
                          </a:solidFill>
                          <a:latin typeface="Roboto"/>
                        </a:rPr>
                        <a:t>0.9  ×5.1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  <a:latin typeface="Roboto"/>
                        </a:rPr>
                        <a:t>ok-RPS @80k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Roboto"/>
                        </a:rPr>
                        <a:t>16.6k / 20.1k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967D2"/>
                          </a:solidFill>
                          <a:latin typeface="Roboto"/>
                        </a:rPr>
                        <a:t>31.3k / 40.0k ×2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12121"/>
                          </a:solidFill>
                          <a:latin typeface="Roboto"/>
                        </a:rPr>
                        <a:t>Отказы @80k, %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595959"/>
                          </a:solidFill>
                          <a:latin typeface="Roboto"/>
                        </a:rPr>
                        <a:t>39–50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dirty="0">
                          <a:solidFill>
                            <a:srgbClr val="1967D2"/>
                          </a:solidFill>
                          <a:latin typeface="Roboto"/>
                        </a:rPr>
                        <a:t>7–14</a:t>
                      </a:r>
                    </a:p>
                  </a:txBody>
                  <a:tcPr marL="73152" marR="45720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7" name="Rounded Rectangle 626"/>
          <p:cNvSpPr/>
          <p:nvPr/>
        </p:nvSpPr>
        <p:spPr>
          <a:xfrm>
            <a:off x="457200" y="4526280"/>
            <a:ext cx="8229600" cy="457200"/>
          </a:xfrm>
          <a:prstGeom prst="round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967D2"/>
                </a:solidFill>
                <a:latin typeface="Roboto"/>
              </a:rPr>
              <a:t>Итог: </a:t>
            </a:r>
            <a:r>
              <a:rPr sz="1200" b="0">
                <a:solidFill>
                  <a:srgbClr val="212121"/>
                </a:solidFill>
                <a:latin typeface="Roboto"/>
              </a:rPr>
              <a:t>−17% аллокаций · ×2 в коллапсе · 14 тестов · </a:t>
            </a:r>
            <a:r>
              <a:rPr sz="1200" b="1">
                <a:solidFill>
                  <a:srgbClr val="1967D2"/>
                </a:solidFill>
                <a:latin typeface="Roboto"/>
              </a:rPr>
              <a:t>github.com/ZtArthur/otus-homework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7242048" cy="2378084"/>
        </p:xfrm>
        <a:graphic>
          <a:graphicData uri="http://schemas.openxmlformats.org/drawingml/2006/table">
            <a:tbl>
              <a:tblPr>
                <a:noFill/>
                <a:tableStyleId>{DCF8DF34-FB22-4428-966A-3E51CCA9C572}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4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Цель достигнута — темы курса собраны в рабочий продукт: TCP-кэш идемпотентности с наблюдаемостью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Урок: измеряй → правь → проверяй — правки по данным трейсов, эффект same-day A/B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Неожиданное: 44% аллокаций давала сама телеметрия — наблюдение стоит ресурсов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Развитие: TTL и эвикция, Server GC, пайплайнинг команд</a:t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21723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924</Words>
  <Application>Microsoft Office PowerPoint</Application>
  <PresentationFormat>Экран (16:9)</PresentationFormat>
  <Paragraphs>119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Roboto</vt:lpstr>
      <vt:lpstr>Courier New</vt:lpstr>
      <vt:lpstr>Roboto Medium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Fast Payment Idem Cache   </vt:lpstr>
      <vt:lpstr>План защиты</vt:lpstr>
      <vt:lpstr>Проблема: двойное списание платежа</vt:lpstr>
      <vt:lpstr>Презентация PowerPoint</vt:lpstr>
      <vt:lpstr>Какие технологии использовались </vt:lpstr>
      <vt:lpstr>System Design: путь команды</vt:lpstr>
      <vt:lpstr>Презентация PowerPoint</vt:lpstr>
      <vt:lpstr>Оптимизация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Артур Зотиков</cp:lastModifiedBy>
  <cp:revision>2</cp:revision>
  <dcterms:modified xsi:type="dcterms:W3CDTF">2026-09-23T19:20:47Z</dcterms:modified>
</cp:coreProperties>
</file>